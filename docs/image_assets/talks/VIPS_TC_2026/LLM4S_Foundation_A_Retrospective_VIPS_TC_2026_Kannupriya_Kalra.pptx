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1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d2cdbcc-ab8c-1cab-c7f3-ee920f026b63}">
          <p14:sldIdLst>
            <p14:sldId id="256"/>
            <p14:sldId id="257"/>
            <p14:sldId id="258"/>
            <p14:sldId id="259"/>
          </p14:sldIdLst>
        </p14:section>
        <p14:section name="Your edge" id="{cdd885fc-f14e-7e2d-8c99-217563e44e6c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The idea" id="{146522dc-2aa6-79f6-3ecf-07c66de3ce03}">
          <p14:sldIdLst>
            <p14:sldId id="268"/>
          </p14:sldIdLst>
        </p14:section>
        <p14:section name="The build" id="{6681f89e-7aa3-ab21-fbf6-f09bde8ec129}">
          <p14:sldIdLst>
            <p14:sldId id="269"/>
            <p14:sldId id="270"/>
            <p14:sldId id="271"/>
          </p14:sldIdLst>
        </p14:section>
        <p14:section name="The community" id="{73e28b8a-d67d-3669-b06d-e4fc6ffc68c0}">
          <p14:sldIdLst>
            <p14:sldId id="272"/>
          </p14:sldIdLst>
        </p14:section>
        <p14:section name="The lessons" id="{1e1ce7b4-30cc-3240-1fa2-dc918515765e}">
          <p14:sldIdLst>
            <p14:sldId id="273"/>
          </p14:sldIdLst>
        </p14:section>
        <p14:section name="Your turn" id="{824cc8bd-a1b1-a232-3876-14fd0a319ed3}">
          <p14:sldIdLst>
            <p14:sldId id="274"/>
          </p14:sldIdLst>
        </p14:section>
        <p14:section name="For founders" id="{8019ca67-ff39-721a-cc5b-f5ff077aa712}">
          <p14:sldIdLst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GitHub stars</c:v>
                </c:pt>
              </c:strCache>
            </c:strRef>
          </c:tx>
          <c:spPr>
            <a:solidFill>
              <a:srgbClr val="A2041C"/>
            </a:solidFill>
            <a:ln w="38100" cap="flat">
              <a:solidFill>
                <a:srgbClr val="A204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A2041C"/>
              </a:solidFill>
              <a:ln w="9525" cap="flat">
                <a:solidFill>
                  <a:srgbClr val="A204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Sheet1!$A$2:$A$22</c:f>
              <c:multiLvlStrCache>
                <c:ptCount val="21"/>
                <c:lvl>
                  <c:pt idx="0">
                    <c:v>Feb 2025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Jun 2025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Oct 2025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Feb 2026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Jun 2026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Oct 2026</c:v>
                  </c:pt>
                </c:lvl>
              </c:multiLvlStrCache>
            </c:multiLvl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1</c:v>
                </c:pt>
                <c:pt idx="1">
                  <c:v>9</c:v>
                </c:pt>
                <c:pt idx="2">
                  <c:v>17</c:v>
                </c:pt>
                <c:pt idx="3">
                  <c:v>33</c:v>
                </c:pt>
                <c:pt idx="4">
                  <c:v>49</c:v>
                </c:pt>
                <c:pt idx="5">
                  <c:v>82</c:v>
                </c:pt>
                <c:pt idx="6">
                  <c:v>114</c:v>
                </c:pt>
                <c:pt idx="7">
                  <c:v>130</c:v>
                </c:pt>
                <c:pt idx="8">
                  <c:v>146</c:v>
                </c:pt>
                <c:pt idx="9">
                  <c:v>154</c:v>
                </c:pt>
                <c:pt idx="10">
                  <c:v>162</c:v>
                </c:pt>
                <c:pt idx="11">
                  <c:v>178</c:v>
                </c:pt>
                <c:pt idx="12">
                  <c:v>210</c:v>
                </c:pt>
                <c:pt idx="13">
                  <c:v>226</c:v>
                </c:pt>
                <c:pt idx="14">
                  <c:v>232</c:v>
                </c:pt>
                <c:pt idx="15">
                  <c:v>237</c:v>
                </c:pt>
                <c:pt idx="16">
                  <c:v>243</c:v>
                </c:pt>
                <c:pt idx="17">
                  <c:v>248</c:v>
                </c:pt>
                <c:pt idx="18">
                  <c:v>254</c:v>
                </c:pt>
                <c:pt idx="19">
                  <c:v>259</c:v>
                </c:pt>
                <c:pt idx="20">
                  <c:v>268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3DCE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5B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0"/>
          <c:min val="0"/>
        </c:scaling>
        <c:delete val="0"/>
        <c:axPos val="l"/>
        <c:majorGridlines>
          <c:spPr>
            <a:ln w="9525" cap="flat">
              <a:solidFill>
                <a:srgbClr val="D3DC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E5B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solidFill>
          <a:srgbClr val="F3F7FC"/>
        </a:solidFill>
        <a:ln>
          <a:noFill/>
        </a:ln>
        <a:effectLst/>
      </c:spPr>
    </c:plotArea>
    <c:plotVisOnly val="1"/>
    <c:dispBlanksAs val="span"/>
  </c:chart>
  <c:spPr>
    <a:solidFill>
      <a:srgbClr val="F3F7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NNER">
    <p:bg>
      <p:bgPr>
        <a:solidFill>
          <a:srgbClr val="0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LLM4S FOUNDATION: A RETROSPECTIVE  ·  E-CELL ORIENTATION &amp; PITCH PLEASE  ·  VIPS-TC, DELHI  ·  23 OCT 2026</a:t>
            </a:r>
            <a:endParaRPr lang="en-US" sz="850" dirty="0"/>
          </a:p>
        </p:txBody>
      </p:sp>
      <p:pic>
        <p:nvPicPr>
          <p:cNvPr id="5" name="Image 0" descr="assets/mark-on-light-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6391656"/>
            <a:ext cx="402336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0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LLM4S FOUNDATION: A RETROSPECTIVE  ·  E-CELL ORIENTATION &amp; PITCH PLEASE  ·  VIPS-TC, DELHI  ·  23 OCT 2026</a:t>
            </a:r>
            <a:endParaRPr lang="en-US" sz="850" dirty="0"/>
          </a:p>
        </p:txBody>
      </p:sp>
      <p:pic>
        <p:nvPicPr>
          <p:cNvPr id="3" name="Image 0" descr="assets/mark-on-dark-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6391656"/>
            <a:ext cx="402336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7B6C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LLM4S FOUNDATION: A RETROSPECTIVE  ·  E-CELL ORIENTATION &amp; PITCH PLEASE  ·  VIPS-TC, DELHI  ·  23 OCT 2026</a:t>
            </a:r>
            <a:endParaRPr lang="en-US" sz="850" dirty="0"/>
          </a:p>
        </p:txBody>
      </p:sp>
      <p:pic>
        <p:nvPicPr>
          <p:cNvPr id="5" name="Image 0" descr="assets/mark-on-dark-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2840" y="6391656"/>
            <a:ext cx="402336" cy="2743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7B6C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4.png"/><Relationship Id="rId6" Type="http://schemas.openxmlformats.org/officeDocument/2006/relationships/image" Target="../media/image-7-4.png"/><Relationship Id="rId7" Type="http://schemas.openxmlformats.org/officeDocument/2006/relationships/image" Target="../media/image-7-4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image" Target="../media/image-11-1.png"/><Relationship Id="rId6" Type="http://schemas.openxmlformats.org/officeDocument/2006/relationships/image" Target="../media/image-11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image" Target="../media/image-20-1.png"/><Relationship Id="rId5" Type="http://schemas.openxmlformats.org/officeDocument/2006/relationships/image" Target="../media/image-20-1.png"/><Relationship Id="rId6" Type="http://schemas.openxmlformats.org/officeDocument/2006/relationships/image" Target="../media/image-20-1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slide1_vi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096000"/>
            <a:ext cx="8229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MISSION   </a:t>
            </a:r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AI by </a:t>
            </a:r>
            <a:pPr indent="0" marL="0">
              <a:buNone/>
            </a:pPr>
            <a:r>
              <a:rPr lang="en-US" sz="2400" b="1" dirty="0">
                <a:solidFill>
                  <a:srgbClr val="E54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AI.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8899855" y="6096000"/>
            <a:ext cx="274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100" kern="0" dirty="0">
                <a:solidFill>
                  <a:srgbClr val="C9D3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llm4s.org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logo-on-dark-t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502920"/>
            <a:ext cx="86868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MISSION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100584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0" b="1" dirty="0">
                <a:solidFill>
                  <a:srgbClr val="F3F7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AI</a:t>
            </a:r>
            <a:endParaRPr lang="en-US" sz="7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7000" b="1" dirty="0">
                <a:solidFill>
                  <a:srgbClr val="E54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building AI.</a:t>
            </a:r>
            <a:endParaRPr lang="en-US" sz="7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5204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Empowering developers through hands-on GenAI projects, open-source contribution and responsible AI education.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48640" y="461772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80060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596128"/>
            <a:ext cx="2590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COMMUNITY MEMBERS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322244" y="480060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3322244" y="5596128"/>
            <a:ext cx="2590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MENTORS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6095848" y="480060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600" dirty="0"/>
          </a:p>
        </p:txBody>
      </p:sp>
      <p:sp>
        <p:nvSpPr>
          <p:cNvPr id="12" name="Text 9"/>
          <p:cNvSpPr txBox="1"/>
          <p:nvPr/>
        </p:nvSpPr>
        <p:spPr>
          <a:xfrm>
            <a:off x="6095848" y="5596128"/>
            <a:ext cx="2590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 CHAPTERS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8869451" y="4800600"/>
            <a:ext cx="25907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E54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4600" dirty="0"/>
          </a:p>
        </p:txBody>
      </p:sp>
      <p:sp>
        <p:nvSpPr>
          <p:cNvPr id="14" name="Text 11"/>
          <p:cNvSpPr txBox="1"/>
          <p:nvPr/>
        </p:nvSpPr>
        <p:spPr>
          <a:xfrm>
            <a:off x="8869451" y="5596128"/>
            <a:ext cx="25907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JOIN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7B6C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ABOUT THE SPEAKER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Kannupriya Kalra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2646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Co-Founder, LLM4S Foundation  ·  London  ·  </a:t>
            </a:r>
            <a:pPr indent="0" marL="0">
              <a:buNone/>
            </a:pPr>
            <a:r>
              <a:rPr lang="en-US" sz="1550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linkedin.com/in/kannupriyakalra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202082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LLM4S, an AI-native platform for Scala and the JVM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7635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9748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194560" y="266090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AI and Scala through the Scala Center and Google Open Source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7635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375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GSOC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194560" y="330098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the Scala Center's Google Summer of Code programmes in 2024 and 2025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7635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394106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AI courses with Manning Publications, New York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7635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177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194560" y="458114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Scala and open source in more than ten countries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7635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ENGINEER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5221224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scalable backend systems in functional Scala at Sky, London</a:t>
            </a:r>
            <a:endParaRPr lang="en-US" sz="1500" dirty="0"/>
          </a:p>
        </p:txBody>
      </p:sp>
      <p:pic>
        <p:nvPicPr>
          <p:cNvPr id="22" name="Image 0" descr="assets/odersk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86216" y="676656"/>
            <a:ext cx="3054096" cy="49377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586216" y="5687568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Martin Odersky, creator of Scala, at Scala Days 2025 in Lausanne, discussing LLM4S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TALK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become an AI engineer through open source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8988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is an AI non-profit that gives you real-world, corporate-style experience for your resume, free of charge.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202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90195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edge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6771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source, your portfolio, and how to start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67665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76148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7432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LLM4S story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1089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commit to a global community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67665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602736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5844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lessons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95020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lessons for anyone building in public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315968"/>
            <a:ext cx="67665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443984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2569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turn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79145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 this week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57216"/>
            <a:ext cx="67665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5285232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2669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founders</a:t>
            </a:r>
            <a:endParaRPr lang="en-US" sz="2100" dirty="0"/>
          </a:p>
        </p:txBody>
      </p:sp>
      <p:sp>
        <p:nvSpPr>
          <p:cNvPr id="23" name="Text 21"/>
          <p:cNvSpPr txBox="1"/>
          <p:nvPr/>
        </p:nvSpPr>
        <p:spPr>
          <a:xfrm>
            <a:off x="1417320" y="56327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as a launchpad for your startup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818120" y="1920240"/>
            <a:ext cx="3822192" cy="4133088"/>
          </a:xfrm>
          <a:prstGeom prst="roundRect">
            <a:avLst>
              <a:gd name="adj" fmla="val 1914"/>
            </a:avLst>
          </a:prstGeom>
          <a:solidFill>
            <a:srgbClr val="0B2A5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18388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COMMIT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8183880" y="255117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Jan 2025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183880" y="3264408"/>
            <a:ext cx="3090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83880" y="350215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LATEST RELEASE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381304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v0.5.1, 15 Oct 2026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8183880" y="4526280"/>
            <a:ext cx="309067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183880" y="47640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5074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</a:t>
            </a: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YOUR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Words you'll hear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21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21449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03704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anyone can read, use and improve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2843784"/>
            <a:ext cx="214495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</a:t>
            </a:r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recipe published for everyone to cook and improve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79394" y="1600200"/>
            <a:ext cx="26021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07994" y="1783080"/>
            <a:ext cx="21449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07994" y="2203704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where code projects live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07994" y="2843784"/>
            <a:ext cx="214495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07994" y="2926080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</a:t>
            </a:r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for code, with every change saved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0148" y="1600200"/>
            <a:ext cx="26021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38748" y="1783080"/>
            <a:ext cx="21449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438748" y="2203704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saved change, with a note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38748" y="2843784"/>
            <a:ext cx="214495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38748" y="2926080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</a:t>
            </a:r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 a version of your assignment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40901" y="1600200"/>
            <a:ext cx="26021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69501" y="1783080"/>
            <a:ext cx="21449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request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269501" y="2203704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proposed change, sent to be checked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269501" y="2843784"/>
            <a:ext cx="214495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69501" y="2926080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</a:t>
            </a:r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suggesting mode in a shared Google Doc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794760"/>
            <a:ext cx="26021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3977640"/>
            <a:ext cx="21449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review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398264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experienced person checks your change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77240" y="5038344"/>
            <a:ext cx="214495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120640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</a:t>
            </a:r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marking work before it goes on the board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3379394" y="3794760"/>
            <a:ext cx="26021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07994" y="3977640"/>
            <a:ext cx="21449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Maintainer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07994" y="4398264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who looks after a project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607994" y="5038344"/>
            <a:ext cx="214495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607994" y="5120640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</a:t>
            </a:r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magazine editor deciding what gets printed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10148" y="3794760"/>
            <a:ext cx="26021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38748" y="3977640"/>
            <a:ext cx="21449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 call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38748" y="4398264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team check-in: done, next, blocked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438748" y="5038344"/>
            <a:ext cx="214495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38748" y="5120640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</a:t>
            </a:r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cricket team's huddle between overs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9040901" y="3794760"/>
            <a:ext cx="2602154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9269501" y="3977640"/>
            <a:ext cx="21449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9269501" y="4398264"/>
            <a:ext cx="21449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kind of AI behind ChatGPT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9269501" y="5038344"/>
            <a:ext cx="2144954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69501" y="5120640"/>
            <a:ext cx="214495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Like: </a:t>
            </a:r>
            <a:pPr indent="0" marL="0">
              <a:buNone/>
            </a:pPr>
            <a:r>
              <a:rPr lang="en-US" sz="12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phone's autocomplete, hugely scaled up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YOUR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open source, and why does it matter?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whose code anyone can read, use, change and share, under a licence that says so.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6" name="Image 0" descr="assets/icon_eye_c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2871216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724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is public, so you learn how real systems are built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3493008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10" name="Image 1" descr="assets/icon_play_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362102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34747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280160" y="37673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use, including at work and in your own products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242816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14" name="Image 2" descr="assets/icon_code_c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4370832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4224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280160" y="45171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it to your needs, or fix what is broken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992624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18" name="Image 3" descr="assets/icon_share_c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512064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49743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it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1280160" y="52669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your improvements back, and your name goes with them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720840" y="1600200"/>
            <a:ext cx="4922215" cy="4251960"/>
          </a:xfrm>
          <a:prstGeom prst="roundRect">
            <a:avLst>
              <a:gd name="adj" fmla="val 1720"/>
            </a:avLst>
          </a:prstGeom>
          <a:solidFill>
            <a:srgbClr val="0B2A55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7086600" y="1828800"/>
            <a:ext cx="4190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ALREADY USE IT EVERY DAY</a:t>
            </a:r>
            <a:endParaRPr lang="en-US" sz="105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2286000"/>
            <a:ext cx="2003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</a:t>
            </a:r>
            <a:endParaRPr lang="en-US" sz="1900" dirty="0"/>
          </a:p>
        </p:txBody>
      </p:sp>
      <p:sp>
        <p:nvSpPr>
          <p:cNvPr id="24" name="Text 18"/>
          <p:cNvSpPr txBox="1"/>
          <p:nvPr/>
        </p:nvSpPr>
        <p:spPr>
          <a:xfrm>
            <a:off x="7086600" y="2651760"/>
            <a:ext cx="2003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181948" y="2286000"/>
            <a:ext cx="2003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9181948" y="2651760"/>
            <a:ext cx="2003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internet's servers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7086600" y="3127248"/>
            <a:ext cx="2003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7086600" y="3493008"/>
            <a:ext cx="2003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AI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9181948" y="3127248"/>
            <a:ext cx="2003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</a:t>
            </a:r>
            <a:endParaRPr lang="en-US" sz="1900" dirty="0"/>
          </a:p>
        </p:txBody>
      </p:sp>
      <p:sp>
        <p:nvSpPr>
          <p:cNvPr id="30" name="Text 24"/>
          <p:cNvSpPr txBox="1"/>
          <p:nvPr/>
        </p:nvSpPr>
        <p:spPr>
          <a:xfrm>
            <a:off x="9181948" y="3493008"/>
            <a:ext cx="2003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AI models</a:t>
            </a:r>
            <a:endParaRPr lang="en-US" sz="1250" dirty="0"/>
          </a:p>
        </p:txBody>
      </p:sp>
      <p:sp>
        <p:nvSpPr>
          <p:cNvPr id="31" name="Text 25"/>
          <p:cNvSpPr txBox="1"/>
          <p:nvPr/>
        </p:nvSpPr>
        <p:spPr>
          <a:xfrm>
            <a:off x="7086600" y="3968496"/>
            <a:ext cx="2003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Kubernetes</a:t>
            </a:r>
            <a:endParaRPr lang="en-US" sz="1900" dirty="0"/>
          </a:p>
        </p:txBody>
      </p:sp>
      <p:sp>
        <p:nvSpPr>
          <p:cNvPr id="32" name="Text 26"/>
          <p:cNvSpPr txBox="1"/>
          <p:nvPr/>
        </p:nvSpPr>
        <p:spPr>
          <a:xfrm>
            <a:off x="7086600" y="4334256"/>
            <a:ext cx="2003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cloud apps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9181948" y="3968496"/>
            <a:ext cx="20039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Spark</a:t>
            </a:r>
            <a:endParaRPr lang="en-US" sz="1900" dirty="0"/>
          </a:p>
        </p:txBody>
      </p:sp>
      <p:sp>
        <p:nvSpPr>
          <p:cNvPr id="34" name="Text 28"/>
          <p:cNvSpPr txBox="1"/>
          <p:nvPr/>
        </p:nvSpPr>
        <p:spPr>
          <a:xfrm>
            <a:off x="9181948" y="4334256"/>
            <a:ext cx="20039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data, written in Scala</a:t>
            </a:r>
            <a:endParaRPr lang="en-US" sz="1250" dirty="0"/>
          </a:p>
        </p:txBody>
      </p:sp>
      <p:sp>
        <p:nvSpPr>
          <p:cNvPr id="35" name="Shape 29"/>
          <p:cNvSpPr/>
          <p:nvPr/>
        </p:nvSpPr>
        <p:spPr>
          <a:xfrm>
            <a:off x="7086600" y="4919472"/>
            <a:ext cx="419069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7086600" y="5029200"/>
            <a:ext cx="4190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3F7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is open source too, </a:t>
            </a:r>
            <a:pPr indent="0" marL="0">
              <a:buNone/>
            </a:pPr>
            <a:r>
              <a:rPr lang="en-US" sz="1450" dirty="0">
                <a:solidFill>
                  <a:srgbClr val="A7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MIT licence: free to use, free to join.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YOUR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your portfolio matters more than a certificate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pic>
        <p:nvPicPr>
          <p:cNvPr id="5" name="Image 0" descr="assets/icon_grad_c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89280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5623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degree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24231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you studied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338218" y="16002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</p:spPr>
      </p:sp>
      <p:pic>
        <p:nvPicPr>
          <p:cNvPr id="9" name="Image 1" descr="assets/icon_cert_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826" y="189280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06898" y="185623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certificate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630826" y="24231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 you finished a course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127797" y="1600200"/>
            <a:ext cx="3515258" cy="1417320"/>
          </a:xfrm>
          <a:prstGeom prst="roundRect">
            <a:avLst>
              <a:gd name="adj" fmla="val 5161"/>
            </a:avLst>
          </a:prstGeom>
          <a:solidFill>
            <a:srgbClr val="0B2A55"/>
          </a:solidFill>
          <a:ln/>
        </p:spPr>
      </p:sp>
      <p:pic>
        <p:nvPicPr>
          <p:cNvPr id="13" name="Image 2" descr="assets/icon_github_crim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0405" y="189280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996477" y="1856232"/>
            <a:ext cx="241797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portfolio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420405" y="24231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you can do, and anyone can check it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33375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AN OPEN-SOURCE PORTFOLIO PROVES</a:t>
            </a:r>
            <a:endParaRPr lang="en-US" sz="1100" dirty="0"/>
          </a:p>
        </p:txBody>
      </p:sp>
      <p:pic>
        <p:nvPicPr>
          <p:cNvPr id="17" name="Image 3" descr="assets/icon_check_c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5818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32688" y="37033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work on real software, not just a class project</a:t>
            </a:r>
            <a:endParaRPr lang="en-US" sz="1500" dirty="0"/>
          </a:p>
        </p:txBody>
      </p:sp>
      <p:pic>
        <p:nvPicPr>
          <p:cNvPr id="19" name="Image 4" descr="assets/icon_check_c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270248"/>
            <a:ext cx="219456" cy="219456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932688" y="421538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take feedback and improve</a:t>
            </a:r>
            <a:endParaRPr lang="en-US" sz="1500" dirty="0"/>
          </a:p>
        </p:txBody>
      </p:sp>
      <p:pic>
        <p:nvPicPr>
          <p:cNvPr id="21" name="Image 5" descr="assets/icon_check_c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82312"/>
            <a:ext cx="219456" cy="2194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32688" y="4727448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collaborate with a team across time zones</a:t>
            </a:r>
            <a:endParaRPr lang="en-US" sz="1500" dirty="0"/>
          </a:p>
        </p:txBody>
      </p:sp>
      <p:pic>
        <p:nvPicPr>
          <p:cNvPr id="23" name="Image 6" descr="assets/icon_check_cri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294376"/>
            <a:ext cx="219456" cy="21945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32688" y="5239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ship: your work is in a public release</a:t>
            </a:r>
            <a:endParaRPr lang="en-US" sz="1500" dirty="0"/>
          </a:p>
        </p:txBody>
      </p:sp>
      <p:sp>
        <p:nvSpPr>
          <p:cNvPr id="25" name="Shape 16"/>
          <p:cNvSpPr/>
          <p:nvPr/>
        </p:nvSpPr>
        <p:spPr>
          <a:xfrm>
            <a:off x="6720840" y="3337560"/>
            <a:ext cx="4922215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7040880" y="3520440"/>
            <a:ext cx="4282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RESUME LINE</a:t>
            </a:r>
            <a:endParaRPr lang="en-US" sz="1050" dirty="0"/>
          </a:p>
        </p:txBody>
      </p:sp>
      <p:sp>
        <p:nvSpPr>
          <p:cNvPr id="27" name="Text 18"/>
          <p:cNvSpPr txBox="1"/>
          <p:nvPr/>
        </p:nvSpPr>
        <p:spPr>
          <a:xfrm>
            <a:off x="7040880" y="3886200"/>
            <a:ext cx="42821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contributor, LLM4S Foundation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4E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feature for an open-source AI project; reviewed by senior engineers and shipped in a public release.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A20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github.com/llm4s/llm4s/pull/…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YOUR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beats an expensive bootcamp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606040" y="1572768"/>
            <a:ext cx="3429000" cy="4123944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1572768"/>
            <a:ext cx="5379415" cy="4123944"/>
          </a:xfrm>
          <a:prstGeom prst="roundRect">
            <a:avLst>
              <a:gd name="adj" fmla="val 1774"/>
            </a:avLst>
          </a:prstGeom>
          <a:solidFill>
            <a:srgbClr val="0B2A5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880360" y="173736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PAID BOOTCAMP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1737360"/>
            <a:ext cx="48307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SOURCE WITH LLM4S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4825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880360" y="2048256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fees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048256"/>
            <a:ext cx="4830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Free: we don't charge anything. Google Summer of Code even pays a stipend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80360" y="2633472"/>
            <a:ext cx="2880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633472"/>
            <a:ext cx="4830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33472"/>
            <a:ext cx="1737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633472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BUILD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2633472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projects for a grade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633472"/>
            <a:ext cx="4830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software people use, shipped in 36 releases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80360" y="3218688"/>
            <a:ext cx="2880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3218688"/>
            <a:ext cx="4830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18688"/>
            <a:ext cx="1737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3218688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GUIDES YOU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880360" y="3218688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on a fixed syllabus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218688"/>
            <a:ext cx="4830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engineers who check your work and reply fast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880360" y="3803904"/>
            <a:ext cx="2880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3803904"/>
            <a:ext cx="4830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803904"/>
            <a:ext cx="1737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3803904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YOUR RESUME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880360" y="3803904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course certificate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3803904"/>
            <a:ext cx="4830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experience: contributor to a real AI project, with work anyone can verify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880360" y="4389120"/>
            <a:ext cx="2880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4389120"/>
            <a:ext cx="4830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389120"/>
            <a:ext cx="1737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48640" y="4389120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NETWORK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880360" y="4389120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cohort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537960" y="4389120"/>
            <a:ext cx="4830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community of 400+ across time zones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880360" y="4974336"/>
            <a:ext cx="2880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37960" y="4974336"/>
            <a:ext cx="483077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" y="4974336"/>
            <a:ext cx="173736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4974336"/>
            <a:ext cx="1874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2880360" y="4974336"/>
            <a:ext cx="2880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set curriculum and schedule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37960" y="4974336"/>
            <a:ext cx="483077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pick the problems, and mentors help you scope them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58704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asks for initiative. In return it gives you real work, real reviewers and a public record of both.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YOUR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one exhausted maintainer. A whole team.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46120" cy="44348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OPEN-SOURCE PROJECTS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1635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maintainers are unpaid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91363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quit or considered quitting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3891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one tired maintainer carries the whole load, and newcomers wait.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54406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Tidelift open source maintainer survey, 2024 (two years ago)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69080" y="1600200"/>
            <a:ext cx="3649828" cy="1298448"/>
          </a:xfrm>
          <a:prstGeom prst="roundRect">
            <a:avLst>
              <a:gd name="adj" fmla="val 5634"/>
            </a:avLst>
          </a:prstGeom>
          <a:solidFill>
            <a:srgbClr val="0B2A55"/>
          </a:solidFill>
          <a:ln/>
        </p:spPr>
      </p:sp>
      <p:pic>
        <p:nvPicPr>
          <p:cNvPr id="13" name="Image 0" descr="assets/icon_users_crim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112" y="1847088"/>
            <a:ext cx="292608" cy="29260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754880" y="1783080"/>
            <a:ext cx="27811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mentors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325112" y="2258568"/>
            <a:ext cx="31926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calls with mentors and maintainers, online weekly and in person, like today.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93228" y="1600200"/>
            <a:ext cx="3649828" cy="1298448"/>
          </a:xfrm>
          <a:prstGeom prst="roundRect">
            <a:avLst>
              <a:gd name="adj" fmla="val 5634"/>
            </a:avLst>
          </a:prstGeom>
          <a:solidFill>
            <a:srgbClr val="0B2A55"/>
          </a:solidFill>
          <a:ln/>
        </p:spPr>
      </p:sp>
      <p:pic>
        <p:nvPicPr>
          <p:cNvPr id="17" name="Image 1" descr="assets/icon_code_crim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260" y="1847088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679028" y="1783080"/>
            <a:ext cx="27811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Pair programming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8249260" y="2258568"/>
            <a:ext cx="31926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people, one screen. Every Sunday at Dev Hour, code with people worldwide.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4069080" y="3163824"/>
            <a:ext cx="3649828" cy="1298448"/>
          </a:xfrm>
          <a:prstGeom prst="roundRect">
            <a:avLst>
              <a:gd name="adj" fmla="val 5634"/>
            </a:avLst>
          </a:prstGeom>
          <a:solidFill>
            <a:srgbClr val="0B2A55"/>
          </a:solidFill>
          <a:ln/>
        </p:spPr>
      </p:sp>
      <p:pic>
        <p:nvPicPr>
          <p:cNvPr id="21" name="Image 2" descr="assets/icon_grad_criml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341071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754880" y="3346704"/>
            <a:ext cx="27811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buddy mentor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4325112" y="3822192"/>
            <a:ext cx="31926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assigned to onboard you fast, so you are never stuck on day one.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7993228" y="3163824"/>
            <a:ext cx="3649828" cy="1298448"/>
          </a:xfrm>
          <a:prstGeom prst="roundRect">
            <a:avLst>
              <a:gd name="adj" fmla="val 5634"/>
            </a:avLst>
          </a:prstGeom>
          <a:solidFill>
            <a:srgbClr val="0B2A55"/>
          </a:solidFill>
          <a:ln/>
        </p:spPr>
      </p:sp>
      <p:pic>
        <p:nvPicPr>
          <p:cNvPr id="25" name="Image 3" descr="assets/icon_globe_crim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9260" y="341071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679028" y="3346704"/>
            <a:ext cx="27811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 and global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8249260" y="3822192"/>
            <a:ext cx="31926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mentors in 12 countries and 15 local chapters: build global connections from Delhi.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069080" y="4727448"/>
            <a:ext cx="3649828" cy="1298448"/>
          </a:xfrm>
          <a:prstGeom prst="roundRect">
            <a:avLst>
              <a:gd name="adj" fmla="val 5634"/>
            </a:avLst>
          </a:prstGeom>
          <a:solidFill>
            <a:srgbClr val="0B2A55"/>
          </a:solidFill>
          <a:ln/>
        </p:spPr>
      </p:sp>
      <p:pic>
        <p:nvPicPr>
          <p:cNvPr id="29" name="Image 4" descr="assets/icon_bolt_crim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4974336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754880" y="4910328"/>
            <a:ext cx="27811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 reviews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4325112" y="5385816"/>
            <a:ext cx="31926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539 changes accepted in the 30 days to 21 Oct 2026. Nobody waits weeks.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7993228" y="4727448"/>
            <a:ext cx="3649828" cy="1298448"/>
          </a:xfrm>
          <a:prstGeom prst="roundRect">
            <a:avLst>
              <a:gd name="adj" fmla="val 5634"/>
            </a:avLst>
          </a:prstGeom>
          <a:solidFill>
            <a:srgbClr val="0B2A55"/>
          </a:solidFill>
          <a:ln/>
        </p:spPr>
      </p:sp>
      <p:pic>
        <p:nvPicPr>
          <p:cNvPr id="33" name="Image 5" descr="assets/icon_award_criml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9260" y="4974336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679028" y="4910328"/>
            <a:ext cx="27811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Free, and non-profit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249260" y="5385816"/>
            <a:ext cx="31926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charge anything. What you gain is real experience, on your resume.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YOUR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local chapter leads: 15 cities, 9 countries</a:t>
            </a:r>
            <a:endParaRPr lang="en-US" sz="3200" dirty="0"/>
          </a:p>
        </p:txBody>
      </p:sp>
      <p:pic>
        <p:nvPicPr>
          <p:cNvPr id="4" name="Image 0" descr="assets/map_v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11091672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 flipV="1">
            <a:off x="9379915" y="2788920"/>
            <a:ext cx="1245413" cy="786384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 flipV="1">
            <a:off x="8284464" y="4059936"/>
            <a:ext cx="982980" cy="1472184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flipV="1">
            <a:off x="9518904" y="3520440"/>
            <a:ext cx="1106424" cy="624535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0625328" y="4956962"/>
            <a:ext cx="47549" cy="620878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flipV="1">
            <a:off x="7690104" y="3786530"/>
            <a:ext cx="757123" cy="968350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92624" y="1847088"/>
            <a:ext cx="1141171" cy="577901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 flipV="1">
            <a:off x="5221224" y="2554834"/>
            <a:ext cx="1008583" cy="737006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 flipV="1">
            <a:off x="6534302" y="1847088"/>
            <a:ext cx="1567282" cy="598018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409944" y="2901391"/>
            <a:ext cx="228600" cy="1076249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458407" y="2514600"/>
            <a:ext cx="1826057" cy="141732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 flipV="1">
            <a:off x="3167482" y="2514600"/>
            <a:ext cx="1459382" cy="446227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160374" y="3109874"/>
            <a:ext cx="403250" cy="1096366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173175" y="3130906"/>
            <a:ext cx="390449" cy="1697126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1392631" y="1874520"/>
            <a:ext cx="308153" cy="741578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012594" y="3453689"/>
            <a:ext cx="1516990" cy="843991"/>
          </a:xfrm>
          <a:prstGeom prst="line">
            <a:avLst/>
          </a:prstGeom>
          <a:noFill/>
          <a:ln w="9525">
            <a:solidFill>
              <a:srgbClr val="4E5B7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315907" y="3511296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10344" y="251460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A2041C"/>
            </a:solidFill>
            <a:prstDash val="solid"/>
          </a:ln>
        </p:spPr>
      </p:sp>
      <p:pic>
        <p:nvPicPr>
          <p:cNvPr id="22" name="Image 1" descr="assets/people/vansh-sharm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2578608"/>
            <a:ext cx="420624" cy="42062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158984" y="25786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Sharma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10158984" y="279806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DELHI · YOUR CITY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9203436" y="3995928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7269480" y="525780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27" name="Image 2" descr="assets/people/shubham-vishwakarm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5321808"/>
            <a:ext cx="420624" cy="420624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7818120" y="53218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Vishwakarma</a:t>
            </a:r>
            <a:endParaRPr lang="en-US" sz="1050" dirty="0"/>
          </a:p>
        </p:txBody>
      </p:sp>
      <p:sp>
        <p:nvSpPr>
          <p:cNvPr id="29" name="Text 24"/>
          <p:cNvSpPr txBox="1"/>
          <p:nvPr/>
        </p:nvSpPr>
        <p:spPr>
          <a:xfrm>
            <a:off x="7818120" y="554126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9454896" y="4080967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9610344" y="324612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32" name="Image 3" descr="assets/people/lucky-shekhaw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2" y="3310128"/>
            <a:ext cx="420624" cy="420624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0158984" y="33101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Lucky Shekhawat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10158984" y="35295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10608869" y="4892954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9610344" y="530352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37" name="Image 4" descr="assets/people/gagandeep-kal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5367528"/>
            <a:ext cx="420624" cy="420624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158984" y="53675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Gagandeep Kalra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10158984" y="55869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383219" y="3722522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675120" y="448056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42" name="Image 5" descr="assets/people/yoshita-sharm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9128" y="4544568"/>
            <a:ext cx="420624" cy="42062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223760" y="45445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Yoshita Sharma</a:t>
            </a:r>
            <a:endParaRPr lang="en-US" sz="1050" dirty="0"/>
          </a:p>
        </p:txBody>
      </p:sp>
      <p:sp>
        <p:nvSpPr>
          <p:cNvPr id="44" name="Text 36"/>
          <p:cNvSpPr txBox="1"/>
          <p:nvPr/>
        </p:nvSpPr>
        <p:spPr>
          <a:xfrm>
            <a:off x="7223760" y="476402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 Dhabi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6069787" y="2360981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3977640" y="1572768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47" name="Image 6" descr="assets/people/dmitry-mamonov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1648" y="1636776"/>
            <a:ext cx="420624" cy="420624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4526280" y="16367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Dmitry Mamonov</a:t>
            </a:r>
            <a:endParaRPr lang="en-US" sz="1050" dirty="0"/>
          </a:p>
        </p:txBody>
      </p:sp>
      <p:sp>
        <p:nvSpPr>
          <p:cNvPr id="49" name="Text 40"/>
          <p:cNvSpPr txBox="1"/>
          <p:nvPr/>
        </p:nvSpPr>
        <p:spPr>
          <a:xfrm>
            <a:off x="4526280" y="18562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</a:t>
            </a:r>
            <a:endParaRPr lang="en-US" sz="1000" dirty="0"/>
          </a:p>
        </p:txBody>
      </p:sp>
      <p:sp>
        <p:nvSpPr>
          <p:cNvPr id="50" name="Shape 41"/>
          <p:cNvSpPr/>
          <p:nvPr/>
        </p:nvSpPr>
        <p:spPr>
          <a:xfrm>
            <a:off x="6165799" y="2490826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4206240" y="301752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52" name="Image 7" descr="assets/people/olivier-nougui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248" y="3081528"/>
            <a:ext cx="420624" cy="420624"/>
          </a:xfrm>
          <a:prstGeom prst="rect">
            <a:avLst/>
          </a:prstGeom>
        </p:spPr>
      </p:pic>
      <p:sp>
        <p:nvSpPr>
          <p:cNvPr id="53" name="Text 43"/>
          <p:cNvSpPr txBox="1"/>
          <p:nvPr/>
        </p:nvSpPr>
        <p:spPr>
          <a:xfrm>
            <a:off x="4754880" y="30815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Olivier Nouguier</a:t>
            </a:r>
            <a:endParaRPr lang="en-US" sz="1050" dirty="0"/>
          </a:p>
        </p:txBody>
      </p:sp>
      <p:sp>
        <p:nvSpPr>
          <p:cNvPr id="54" name="Text 44"/>
          <p:cNvSpPr txBox="1"/>
          <p:nvPr/>
        </p:nvSpPr>
        <p:spPr>
          <a:xfrm>
            <a:off x="4754880" y="33009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</a:t>
            </a:r>
            <a:endParaRPr lang="en-US" sz="1000" dirty="0"/>
          </a:p>
        </p:txBody>
      </p:sp>
      <p:sp>
        <p:nvSpPr>
          <p:cNvPr id="55" name="Shape 45"/>
          <p:cNvSpPr/>
          <p:nvPr/>
        </p:nvSpPr>
        <p:spPr>
          <a:xfrm>
            <a:off x="6470294" y="2381098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7086600" y="1572768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57" name="Image 8" descr="assets/people/vitthal-mirji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608" y="1636776"/>
            <a:ext cx="420624" cy="420624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7635240" y="1636776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Vitthal Mirji</a:t>
            </a:r>
            <a:endParaRPr lang="en-US" sz="1050" dirty="0"/>
          </a:p>
        </p:txBody>
      </p:sp>
      <p:sp>
        <p:nvSpPr>
          <p:cNvPr id="59" name="Text 48"/>
          <p:cNvSpPr txBox="1"/>
          <p:nvPr/>
        </p:nvSpPr>
        <p:spPr>
          <a:xfrm>
            <a:off x="7635240" y="1856232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1000" dirty="0"/>
          </a:p>
        </p:txBody>
      </p:sp>
      <p:sp>
        <p:nvSpPr>
          <p:cNvPr id="60" name="Shape 49"/>
          <p:cNvSpPr/>
          <p:nvPr/>
        </p:nvSpPr>
        <p:spPr>
          <a:xfrm>
            <a:off x="6574536" y="2837383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5394960" y="370332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62" name="Image 9" descr="assets/people/giovanni-ruggier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58968" y="3767328"/>
            <a:ext cx="420624" cy="420624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5943600" y="37673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Giovanni Ruggiero</a:t>
            </a:r>
            <a:endParaRPr lang="en-US" sz="1050" dirty="0"/>
          </a:p>
        </p:txBody>
      </p:sp>
      <p:sp>
        <p:nvSpPr>
          <p:cNvPr id="64" name="Text 52"/>
          <p:cNvSpPr txBox="1"/>
          <p:nvPr/>
        </p:nvSpPr>
        <p:spPr>
          <a:xfrm>
            <a:off x="5943600" y="39867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</a:t>
            </a:r>
            <a:endParaRPr lang="en-US" sz="1000" dirty="0"/>
          </a:p>
        </p:txBody>
      </p:sp>
      <p:sp>
        <p:nvSpPr>
          <p:cNvPr id="65" name="Shape 53"/>
          <p:cNvSpPr/>
          <p:nvPr/>
        </p:nvSpPr>
        <p:spPr>
          <a:xfrm>
            <a:off x="6394399" y="2592324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54"/>
          <p:cNvSpPr/>
          <p:nvPr/>
        </p:nvSpPr>
        <p:spPr>
          <a:xfrm>
            <a:off x="7269480" y="224028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67" name="Image 10" descr="assets/people/elvan-konukseve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3488" y="2304288"/>
            <a:ext cx="420624" cy="420624"/>
          </a:xfrm>
          <a:prstGeom prst="rect">
            <a:avLst/>
          </a:prstGeom>
        </p:spPr>
      </p:pic>
      <p:sp>
        <p:nvSpPr>
          <p:cNvPr id="68" name="Text 55"/>
          <p:cNvSpPr txBox="1"/>
          <p:nvPr/>
        </p:nvSpPr>
        <p:spPr>
          <a:xfrm>
            <a:off x="7818120" y="23042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Elvan Konukseven</a:t>
            </a:r>
            <a:endParaRPr lang="en-US" sz="1050" dirty="0"/>
          </a:p>
        </p:txBody>
      </p:sp>
      <p:sp>
        <p:nvSpPr>
          <p:cNvPr id="69" name="Text 56"/>
          <p:cNvSpPr txBox="1"/>
          <p:nvPr/>
        </p:nvSpPr>
        <p:spPr>
          <a:xfrm>
            <a:off x="7818120" y="252374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Switzerland</a:t>
            </a:r>
            <a:endParaRPr lang="en-US" sz="1000" dirty="0"/>
          </a:p>
        </p:txBody>
      </p:sp>
      <p:sp>
        <p:nvSpPr>
          <p:cNvPr id="70" name="Shape 57"/>
          <p:cNvSpPr/>
          <p:nvPr/>
        </p:nvSpPr>
        <p:spPr>
          <a:xfrm>
            <a:off x="3103474" y="2896819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58"/>
          <p:cNvSpPr/>
          <p:nvPr/>
        </p:nvSpPr>
        <p:spPr>
          <a:xfrm>
            <a:off x="3611880" y="224028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72" name="Image 11" descr="assets/people/aatif-ullah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75888" y="2304288"/>
            <a:ext cx="420624" cy="420624"/>
          </a:xfrm>
          <a:prstGeom prst="rect">
            <a:avLst/>
          </a:prstGeom>
        </p:spPr>
      </p:pic>
      <p:sp>
        <p:nvSpPr>
          <p:cNvPr id="73" name="Text 59"/>
          <p:cNvSpPr txBox="1"/>
          <p:nvPr/>
        </p:nvSpPr>
        <p:spPr>
          <a:xfrm>
            <a:off x="4160520" y="23042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Aatif Ullah</a:t>
            </a:r>
            <a:endParaRPr lang="en-US" sz="1050" dirty="0"/>
          </a:p>
        </p:txBody>
      </p:sp>
      <p:sp>
        <p:nvSpPr>
          <p:cNvPr id="74" name="Text 60"/>
          <p:cNvSpPr txBox="1"/>
          <p:nvPr/>
        </p:nvSpPr>
        <p:spPr>
          <a:xfrm>
            <a:off x="4160520" y="252374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York</a:t>
            </a:r>
            <a:endParaRPr lang="en-US" sz="1000" dirty="0"/>
          </a:p>
        </p:txBody>
      </p:sp>
      <p:sp>
        <p:nvSpPr>
          <p:cNvPr id="75" name="Shape 61"/>
          <p:cNvSpPr/>
          <p:nvPr/>
        </p:nvSpPr>
        <p:spPr>
          <a:xfrm>
            <a:off x="1096366" y="3045866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62"/>
          <p:cNvSpPr/>
          <p:nvPr/>
        </p:nvSpPr>
        <p:spPr>
          <a:xfrm>
            <a:off x="548640" y="393192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77" name="Image 12" descr="assets/people/pritish-yuvraj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2648" y="3995928"/>
            <a:ext cx="420624" cy="420624"/>
          </a:xfrm>
          <a:prstGeom prst="rect">
            <a:avLst/>
          </a:prstGeom>
        </p:spPr>
      </p:pic>
      <p:sp>
        <p:nvSpPr>
          <p:cNvPr id="78" name="Text 63"/>
          <p:cNvSpPr txBox="1"/>
          <p:nvPr/>
        </p:nvSpPr>
        <p:spPr>
          <a:xfrm>
            <a:off x="1097280" y="399592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Pritish Yuvraj</a:t>
            </a:r>
            <a:endParaRPr lang="en-US" sz="1050" dirty="0"/>
          </a:p>
        </p:txBody>
      </p:sp>
      <p:sp>
        <p:nvSpPr>
          <p:cNvPr id="79" name="Text 64"/>
          <p:cNvSpPr txBox="1"/>
          <p:nvPr/>
        </p:nvSpPr>
        <p:spPr>
          <a:xfrm>
            <a:off x="1097280" y="421538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</a:t>
            </a:r>
            <a:endParaRPr lang="en-US" sz="1000" dirty="0"/>
          </a:p>
        </p:txBody>
      </p:sp>
      <p:sp>
        <p:nvSpPr>
          <p:cNvPr id="80" name="Shape 65"/>
          <p:cNvSpPr/>
          <p:nvPr/>
        </p:nvSpPr>
        <p:spPr>
          <a:xfrm>
            <a:off x="1109167" y="3066898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66"/>
          <p:cNvSpPr/>
          <p:nvPr/>
        </p:nvSpPr>
        <p:spPr>
          <a:xfrm>
            <a:off x="548640" y="4553712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82" name="Image 13" descr="assets/people/ipsit-sahoo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2648" y="4617720"/>
            <a:ext cx="420624" cy="420624"/>
          </a:xfrm>
          <a:prstGeom prst="rect">
            <a:avLst/>
          </a:prstGeom>
        </p:spPr>
      </p:pic>
      <p:sp>
        <p:nvSpPr>
          <p:cNvPr id="83" name="Text 67"/>
          <p:cNvSpPr txBox="1"/>
          <p:nvPr/>
        </p:nvSpPr>
        <p:spPr>
          <a:xfrm>
            <a:off x="1097280" y="461772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Ipsit Sahoo</a:t>
            </a:r>
            <a:endParaRPr lang="en-US" sz="1050" dirty="0"/>
          </a:p>
        </p:txBody>
      </p:sp>
      <p:sp>
        <p:nvSpPr>
          <p:cNvPr id="84" name="Text 68"/>
          <p:cNvSpPr txBox="1"/>
          <p:nvPr/>
        </p:nvSpPr>
        <p:spPr>
          <a:xfrm>
            <a:off x="1097280" y="4837176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Silicon Valley</a:t>
            </a:r>
            <a:endParaRPr lang="en-US" sz="1000" dirty="0"/>
          </a:p>
        </p:txBody>
      </p:sp>
      <p:sp>
        <p:nvSpPr>
          <p:cNvPr id="85" name="Shape 69"/>
          <p:cNvSpPr/>
          <p:nvPr/>
        </p:nvSpPr>
        <p:spPr>
          <a:xfrm>
            <a:off x="1328623" y="2552090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70"/>
          <p:cNvSpPr/>
          <p:nvPr/>
        </p:nvSpPr>
        <p:spPr>
          <a:xfrm>
            <a:off x="685800" y="160020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87" name="Image 14" descr="assets/people/ansh-k-shah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9808" y="1664208"/>
            <a:ext cx="420624" cy="420624"/>
          </a:xfrm>
          <a:prstGeom prst="rect">
            <a:avLst/>
          </a:prstGeom>
        </p:spPr>
      </p:pic>
      <p:sp>
        <p:nvSpPr>
          <p:cNvPr id="88" name="Text 71"/>
          <p:cNvSpPr txBox="1"/>
          <p:nvPr/>
        </p:nvSpPr>
        <p:spPr>
          <a:xfrm>
            <a:off x="1234440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Ansh K Shah</a:t>
            </a:r>
            <a:endParaRPr lang="en-US" sz="1050" dirty="0"/>
          </a:p>
        </p:txBody>
      </p:sp>
      <p:sp>
        <p:nvSpPr>
          <p:cNvPr id="89" name="Text 72"/>
          <p:cNvSpPr txBox="1"/>
          <p:nvPr/>
        </p:nvSpPr>
        <p:spPr>
          <a:xfrm>
            <a:off x="1234440" y="188366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Seattle</a:t>
            </a:r>
            <a:endParaRPr lang="en-US" sz="1000" dirty="0"/>
          </a:p>
        </p:txBody>
      </p:sp>
      <p:sp>
        <p:nvSpPr>
          <p:cNvPr id="90" name="Shape 73"/>
          <p:cNvSpPr/>
          <p:nvPr/>
        </p:nvSpPr>
        <p:spPr>
          <a:xfrm>
            <a:off x="1948586" y="3389681"/>
            <a:ext cx="128016" cy="128016"/>
          </a:xfrm>
          <a:prstGeom prst="ellipse">
            <a:avLst/>
          </a:prstGeom>
          <a:solidFill>
            <a:srgbClr val="A204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74"/>
          <p:cNvSpPr/>
          <p:nvPr/>
        </p:nvSpPr>
        <p:spPr>
          <a:xfrm>
            <a:off x="2514600" y="4023360"/>
            <a:ext cx="2029968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3DCE8"/>
            </a:solidFill>
            <a:prstDash val="solid"/>
          </a:ln>
        </p:spPr>
      </p:sp>
      <p:pic>
        <p:nvPicPr>
          <p:cNvPr id="92" name="Image 15" descr="assets/people/gopi-trinadh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78608" y="4087368"/>
            <a:ext cx="420624" cy="420624"/>
          </a:xfrm>
          <a:prstGeom prst="rect">
            <a:avLst/>
          </a:prstGeom>
        </p:spPr>
      </p:pic>
      <p:sp>
        <p:nvSpPr>
          <p:cNvPr id="93" name="Text 75"/>
          <p:cNvSpPr txBox="1"/>
          <p:nvPr/>
        </p:nvSpPr>
        <p:spPr>
          <a:xfrm>
            <a:off x="3063240" y="408736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Gopi Trinadh</a:t>
            </a:r>
            <a:endParaRPr lang="en-US" sz="1050" dirty="0"/>
          </a:p>
        </p:txBody>
      </p:sp>
      <p:sp>
        <p:nvSpPr>
          <p:cNvPr id="94" name="Text 76"/>
          <p:cNvSpPr txBox="1"/>
          <p:nvPr/>
        </p:nvSpPr>
        <p:spPr>
          <a:xfrm>
            <a:off x="3063240" y="4306824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Texas</a:t>
            </a:r>
            <a:endParaRPr lang="en-US" sz="1000" dirty="0"/>
          </a:p>
        </p:txBody>
      </p:sp>
      <p:sp>
        <p:nvSpPr>
          <p:cNvPr id="95" name="Text 77"/>
          <p:cNvSpPr txBox="1"/>
          <p:nvPr/>
        </p:nvSpPr>
        <p:spPr>
          <a:xfrm>
            <a:off x="548640" y="605332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leads organise local events and lead the LLM4S community in their city  ·  Source: llm4s.org/people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YOUR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real engineering team works, in the open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A COMPANY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LLM4S, WHERE YOU CAN WATCH AND JOIN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019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stand-up or scrum call: a short team check-in</a:t>
            </a:r>
            <a:endParaRPr lang="en-US" sz="1450" dirty="0"/>
          </a:p>
        </p:txBody>
      </p:sp>
      <p:pic>
        <p:nvPicPr>
          <p:cNvPr id="8" name="Image 0" descr="assets/icon_arrow_c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084832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901952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09360" y="1901952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Dev Hour: we pick what to build, then code it together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596896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59689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task board: who is doing what</a:t>
            </a:r>
            <a:endParaRPr lang="en-US" sz="1450" dirty="0"/>
          </a:p>
        </p:txBody>
      </p:sp>
      <p:pic>
        <p:nvPicPr>
          <p:cNvPr id="13" name="Image 1" descr="assets/icon_arrow_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779776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35040" y="2596896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309360" y="2596896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issues and project boards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548640" y="3291840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32918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senior checks work before it goes live</a:t>
            </a:r>
            <a:endParaRPr lang="en-US" sz="1450" dirty="0"/>
          </a:p>
        </p:txBody>
      </p:sp>
      <p:pic>
        <p:nvPicPr>
          <p:cNvPr id="18" name="Image 2" descr="assets/icon_arrow_c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474720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035040" y="3291840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309360" y="3291840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pull request is reviewed by a maintainer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3986784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22960" y="398678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quality checks</a:t>
            </a:r>
            <a:endParaRPr lang="en-US" sz="1450" dirty="0"/>
          </a:p>
        </p:txBody>
      </p:sp>
      <p:pic>
        <p:nvPicPr>
          <p:cNvPr id="23" name="Image 3" descr="assets/icon_arrow_c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169664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035040" y="3986784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309360" y="3986784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check every change before it is accepted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548640" y="4681728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6817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before big changes</a:t>
            </a:r>
            <a:endParaRPr lang="en-US" sz="1450" dirty="0"/>
          </a:p>
        </p:txBody>
      </p:sp>
      <p:pic>
        <p:nvPicPr>
          <p:cNvPr id="28" name="Image 4" descr="assets/icon_arrow_c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864608"/>
            <a:ext cx="237744" cy="23774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035040" y="4681728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309360" y="4681728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design documents for large changes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548640" y="5376672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22960" y="537667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releases</a:t>
            </a:r>
            <a:endParaRPr lang="en-US" sz="1450" dirty="0"/>
          </a:p>
        </p:txBody>
      </p:sp>
      <p:pic>
        <p:nvPicPr>
          <p:cNvPr id="33" name="Image 5" descr="assets/icon_arrow_c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5559552"/>
            <a:ext cx="237744" cy="237744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035040" y="5376672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6309360" y="5376672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releases, each with notes on what changed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YOUR EDGE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path: from first issue to the global stage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34440" y="2331720"/>
            <a:ext cx="9722815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" y="19476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2041C"/>
            </a:solidFill>
            <a:prstDash val="solid"/>
          </a:ln>
        </p:spPr>
      </p:sp>
      <p:pic>
        <p:nvPicPr>
          <p:cNvPr id="6" name="Image 0" descr="assets/icon_discord_c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213969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20040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320040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Discord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320040" y="3502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hello, ask anything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94955" y="19476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2041C"/>
            </a:solidFill>
            <a:prstDash val="solid"/>
          </a:ln>
        </p:spPr>
      </p:sp>
      <p:pic>
        <p:nvPicPr>
          <p:cNvPr id="11" name="Image 1" descr="assets/icon_calendar_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979" y="21396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64603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2264603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Dev Hour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2264603" y="3502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Sundays at 14:30 IST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739518" y="19476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2041C"/>
            </a:solidFill>
            <a:prstDash val="solid"/>
          </a:ln>
        </p:spPr>
      </p:sp>
      <p:pic>
        <p:nvPicPr>
          <p:cNvPr id="16" name="Image 2" descr="assets/icon_pr_c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542" y="213969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09166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4209166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change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4209166" y="3502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 task, labelled for you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684081" y="19476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2041C"/>
            </a:solidFill>
            <a:prstDash val="solid"/>
          </a:ln>
        </p:spPr>
      </p:sp>
      <p:pic>
        <p:nvPicPr>
          <p:cNvPr id="21" name="Image 3" descr="assets/icon_code_c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105" y="213969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153729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6153729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a feature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6153729" y="3502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it with a maintainer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8628644" y="1947672"/>
            <a:ext cx="768096" cy="7680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A2041C"/>
            </a:solidFill>
            <a:prstDash val="solid"/>
          </a:ln>
        </p:spPr>
      </p:sp>
      <p:pic>
        <p:nvPicPr>
          <p:cNvPr id="26" name="Image 4" descr="assets/icon_grad_c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668" y="213969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098292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8098292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Mentorship</a:t>
            </a:r>
            <a:endParaRPr lang="en-US" sz="1550" dirty="0"/>
          </a:p>
        </p:txBody>
      </p:sp>
      <p:sp>
        <p:nvSpPr>
          <p:cNvPr id="29" name="Text 22"/>
          <p:cNvSpPr txBox="1"/>
          <p:nvPr/>
        </p:nvSpPr>
        <p:spPr>
          <a:xfrm>
            <a:off x="8098292" y="3502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with an experienced mentor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10573207" y="1947672"/>
            <a:ext cx="768096" cy="768096"/>
          </a:xfrm>
          <a:prstGeom prst="ellipse">
            <a:avLst/>
          </a:prstGeom>
          <a:solidFill>
            <a:srgbClr val="A2041C"/>
          </a:solidFill>
          <a:ln w="19050">
            <a:solidFill>
              <a:srgbClr val="A2041C"/>
            </a:solidFill>
            <a:prstDash val="solid"/>
          </a:ln>
        </p:spPr>
      </p:sp>
      <p:pic>
        <p:nvPicPr>
          <p:cNvPr id="31" name="Image 5" descr="assets/icon_stage_crea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5231" y="213969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042855" y="2880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6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10042855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and speak</a:t>
            </a:r>
            <a:endParaRPr lang="en-US" sz="1550" dirty="0"/>
          </a:p>
        </p:txBody>
      </p:sp>
      <p:sp>
        <p:nvSpPr>
          <p:cNvPr id="34" name="Text 26"/>
          <p:cNvSpPr txBox="1"/>
          <p:nvPr/>
        </p:nvSpPr>
        <p:spPr>
          <a:xfrm>
            <a:off x="10042855" y="350215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Blogs, talks, conferences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548640" y="4251960"/>
            <a:ext cx="44805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822960" y="4370832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5400" dirty="0"/>
          </a:p>
        </p:txBody>
      </p:sp>
      <p:sp>
        <p:nvSpPr>
          <p:cNvPr id="37" name="Text 29"/>
          <p:cNvSpPr txBox="1"/>
          <p:nvPr/>
        </p:nvSpPr>
        <p:spPr>
          <a:xfrm>
            <a:off x="201168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mentors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2011680" y="4846320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and researchers in 12 countries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822960" y="537667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the US, the UK, across Europe, Singapore and Ethiopia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5303520" y="4251960"/>
            <a:ext cx="6339535" cy="1600200"/>
          </a:xfrm>
          <a:prstGeom prst="roundRect">
            <a:avLst>
              <a:gd name="adj" fmla="val 4571"/>
            </a:avLst>
          </a:prstGeom>
          <a:solidFill>
            <a:srgbClr val="0B2A55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5669280" y="4462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 HAPPENS</a:t>
            </a:r>
            <a:endParaRPr lang="en-US" sz="1050" dirty="0"/>
          </a:p>
        </p:txBody>
      </p:sp>
      <p:sp>
        <p:nvSpPr>
          <p:cNvPr id="42" name="Text 34"/>
          <p:cNvSpPr txBox="1"/>
          <p:nvPr/>
        </p:nvSpPr>
        <p:spPr>
          <a:xfrm>
            <a:off x="5669280" y="4773168"/>
            <a:ext cx="5608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Shubham Vishwakarma built a real part of LLM4S with a mentor in 2025, then co-presented LLM4S at Oaisys 2025, an AI conference in Pune. Today he leads our Mumbai chapter.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LLM4S STORY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started with one commit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January 2025, most LLM work happened in Python.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15768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building in Scala and Java had no reliable AI toolkit.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4845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first commit did the smallest useful thing: ask an AI a question from Scala.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58114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since has grown from that one call.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468112" cy="3749040"/>
          </a:xfrm>
          <a:prstGeom prst="roundRect">
            <a:avLst>
              <a:gd name="adj" fmla="val 1951"/>
            </a:avLst>
          </a:prstGeom>
          <a:solidFill>
            <a:srgbClr val="0B2A5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0116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git log --reverse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2025-01-29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Rory Graves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 commit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2025-01-29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Rory Graves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Initial base code calling an llm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2025-02-04  </a:t>
            </a:r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Rory Graves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 README.md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A7B6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1,761 more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71500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git history of github.com/llm4s/llm4s, 1,764 commits as of 21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LLM4S STORY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call to 1.0, in public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68680" y="3703320"/>
            <a:ext cx="1045159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3200400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87452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JAN 2025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67128"/>
            <a:ext cx="14996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commit: code that asks an AI a question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3822192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24128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 2025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456285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talk, in San Francisco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90672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91256" y="3200400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185416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APR 2025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185416" y="21671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release anyone can download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51960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52544" y="3822192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346704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 2025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3346704" y="456285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Google Summer of Code students join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13248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13832" y="3200400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07992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JUL 2025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07992" y="21671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Dev Hour begins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74536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0" y="3822192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 2025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456285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Szork live on stage in Switzerland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735824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36408" y="3200400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30568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 2025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30568" y="21671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questions from your own documents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897112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97696" y="3822192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91856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FEB 2026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991856" y="456285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 reliability upgrade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058400" y="3602736"/>
            <a:ext cx="201168" cy="201168"/>
          </a:xfrm>
          <a:prstGeom prst="ellipse">
            <a:avLst/>
          </a:prstGeom>
          <a:solidFill>
            <a:srgbClr val="A2041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158984" y="3200400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153144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 2026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153144" y="21671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into smaller, plug-in parts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11219688" y="3602736"/>
            <a:ext cx="201168" cy="201168"/>
          </a:xfrm>
          <a:prstGeom prst="ellipse">
            <a:avLst/>
          </a:prstGeom>
          <a:solidFill>
            <a:srgbClr val="F3F7FC"/>
          </a:solidFill>
          <a:ln w="25400">
            <a:solidFill>
              <a:srgbClr val="A2041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320272" y="3822192"/>
            <a:ext cx="0" cy="384048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0140696" y="4270248"/>
            <a:ext cx="150235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10140696" y="4562856"/>
            <a:ext cx="150235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1.0: a promise of stability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605332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CHANGELOG.md and git history of github.com/llm4s/llm4s; talks archive in the LLM4S README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LLM4S STORY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Twenty-one months, by the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9280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1,764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9008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29 Jan 2025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824" y="169164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65144" y="189280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65144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65144" y="299008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v0.1.0 to v0.5.1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33008" y="169164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07328" y="189280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507328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contributors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299008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commits on main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75191" y="169164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49511" y="189280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349511" y="265176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349511" y="299008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community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399592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400+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75488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members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9320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growing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390824" y="379476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65144" y="399592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3665144" y="475488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665144" y="509320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to 2026, before today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33008" y="379476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07328" y="399592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30" name="Text 28"/>
          <p:cNvSpPr txBox="1"/>
          <p:nvPr/>
        </p:nvSpPr>
        <p:spPr>
          <a:xfrm>
            <a:off x="6507328" y="475488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6507328" y="509320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continents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075191" y="3794760"/>
            <a:ext cx="256786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349511" y="3995928"/>
            <a:ext cx="20192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9349511" y="4754880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GSoC contributors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349511" y="5093208"/>
            <a:ext cx="2019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Summer of Code 2025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git history and CHANGELOG.md of github.com/llm4s/llm4s, read 21 Oct 2026; talks archive in the README; contributor and member counts from the LLM4S Foundation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LLM4S STORY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Szork: the demo that made it click</a:t>
            </a:r>
            <a:endParaRPr lang="en-US" sz="3200" dirty="0"/>
          </a:p>
        </p:txBody>
      </p:sp>
      <p:pic>
        <p:nvPicPr>
          <p:cNvPr id="4" name="Image 0" descr="assets/szork_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035040" cy="33924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084064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Days 2025, SwissTech Convention Center, EPFL, Lausanne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949440" y="1572768"/>
            <a:ext cx="4690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voice-controlled text adventure that reimagines Zork. An LLM4S agent runs the game as its Dungeon Master.</a:t>
            </a:r>
            <a:endParaRPr lang="en-US" sz="1600" dirty="0"/>
          </a:p>
        </p:txBody>
      </p:sp>
      <p:pic>
        <p:nvPicPr>
          <p:cNvPr id="7" name="Image 1" descr="assets/icon_dice_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54203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60920" y="251460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 Dungeon Master</a:t>
            </a:r>
            <a:pPr indent="0" marL="0">
              <a:buNone/>
            </a:pPr>
            <a:r>
              <a:rPr lang="en-US" sz="1450" dirty="0">
                <a:solidFill>
                  <a:srgbClr val="4E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story, world and inventory</a:t>
            </a:r>
            <a:endParaRPr lang="en-US" sz="1450" dirty="0"/>
          </a:p>
        </p:txBody>
      </p:sp>
      <p:pic>
        <p:nvPicPr>
          <p:cNvPr id="9" name="Image 2" descr="assets/icon_mic_c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2999232"/>
            <a:ext cx="274320" cy="2743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360920" y="297180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moves</a:t>
            </a:r>
            <a:pPr indent="0" marL="0">
              <a:buNone/>
            </a:pPr>
            <a:r>
              <a:rPr lang="en-US" sz="1450" dirty="0">
                <a:solidFill>
                  <a:srgbClr val="4E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speech-to-text</a:t>
            </a:r>
            <a:endParaRPr lang="en-US" sz="1450" dirty="0"/>
          </a:p>
        </p:txBody>
      </p:sp>
      <p:pic>
        <p:nvPicPr>
          <p:cNvPr id="11" name="Image 3" descr="assets/icon_speaker_c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3456432"/>
            <a:ext cx="274320" cy="274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360920" y="342900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Narrated aloud</a:t>
            </a:r>
            <a:pPr indent="0" marL="0">
              <a:buNone/>
            </a:pPr>
            <a:r>
              <a:rPr lang="en-US" sz="1450" dirty="0">
                <a:solidFill>
                  <a:srgbClr val="4E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text-to-speech</a:t>
            </a:r>
            <a:endParaRPr lang="en-US" sz="1450" dirty="0"/>
          </a:p>
        </p:txBody>
      </p:sp>
      <p:pic>
        <p:nvPicPr>
          <p:cNvPr id="13" name="Image 4" descr="assets/icon_image_c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3913632"/>
            <a:ext cx="274320" cy="27432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7360920" y="3886200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scenes</a:t>
            </a:r>
            <a:pPr indent="0" marL="0">
              <a:buNone/>
            </a:pPr>
            <a:r>
              <a:rPr lang="en-US" sz="1450" dirty="0">
                <a:solidFill>
                  <a:srgbClr val="4E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AI art for every new location</a:t>
            </a:r>
            <a:endParaRPr lang="en-US" sz="1450" dirty="0"/>
          </a:p>
        </p:txBody>
      </p:sp>
      <p:pic>
        <p:nvPicPr>
          <p:cNvPr id="15" name="Image 5" descr="assets/qr_szork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4526280"/>
            <a:ext cx="1207008" cy="120700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366760" y="45720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THE TALK</a:t>
            </a:r>
            <a:endParaRPr lang="en-US" sz="1050" dirty="0"/>
          </a:p>
        </p:txBody>
      </p:sp>
      <p:sp>
        <p:nvSpPr>
          <p:cNvPr id="17" name="Text 9"/>
          <p:cNvSpPr txBox="1"/>
          <p:nvPr/>
        </p:nvSpPr>
        <p:spPr>
          <a:xfrm>
            <a:off x="8366760" y="4864608"/>
            <a:ext cx="3273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Days 2025, Lausanne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8366760" y="5193792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youtube.com/watch?v=5od95FbNjiI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THE LLM4S STORY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talks in 7 countries, before today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2763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6276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States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1645920"/>
            <a:ext cx="42062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Francisco: Bay Area Scala  ·  Dallas Scala Enthusiasts  ·  San Jose: AI Compute &amp; Hardware  ·  Mountain View: Microsoft Global Hackathon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40864"/>
            <a:ext cx="6629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1401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4140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Switzerland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43230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Lausanne: Scala Days and Scala Center lightning talks  ·  Zürich Scala Enthusiasts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6629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98094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29809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United Kingdom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2999232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Scala Users Group  ·  GenAI London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6629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112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35112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3529584"/>
            <a:ext cx="4206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 India  ·  Oaisys AI Practitioners Conference, Pune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68496"/>
            <a:ext cx="6629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0416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" y="40416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Poland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40599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World, Gdańsk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425696"/>
            <a:ext cx="6629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48640" y="44988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05840" y="4498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Germany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2971800" y="45171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Summer of Code Mentor Summit, Munich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82896"/>
            <a:ext cx="662940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495604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4956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Singapore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2971800" y="497433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ICFP/SPLASH, Scala Workshop</a:t>
            </a:r>
            <a:endParaRPr lang="en-US" sz="1300" dirty="0"/>
          </a:p>
        </p:txBody>
      </p:sp>
      <p:pic>
        <p:nvPicPr>
          <p:cNvPr id="31" name="Image 0" descr="assets/ms_tal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600200"/>
            <a:ext cx="4050792" cy="2231136"/>
          </a:xfrm>
          <a:prstGeom prst="rect">
            <a:avLst/>
          </a:prstGeom>
        </p:spPr>
      </p:pic>
      <p:pic>
        <p:nvPicPr>
          <p:cNvPr id="32" name="Image 1" descr="assets/london_crow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89520" y="3950208"/>
            <a:ext cx="4050792" cy="1810512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7589520" y="5815584"/>
            <a:ext cx="4050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Global Hackathon, Mountain View, Sep 2026 (top); London Scala Users Group, Aug 2025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548640" y="5504688"/>
            <a:ext cx="66294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777240" y="55046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A204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 </a:t>
            </a:r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1.0 talks  ·  Singapore, 17 Nov  ·  London, 25 and 26 Nov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THE LESSONS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lessons for anyone building in public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the smallest thing that works.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737360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first commit asked an AI one question. Everything else came later.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7860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786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it weekly.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578608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Hour has been on every Sunday since July 2025. A fixed slot gives newcomers a standing way in.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1985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4198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the story in public.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035040" y="3419856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talks in seven countries, each one in front of people who had never heard of us.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261104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2611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Mentor, and you multiply.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261104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students, each with a mentor, built big parts of LLM4S in a single summer.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956048"/>
            <a:ext cx="11094415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10235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51023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 up before you promise.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5102352"/>
            <a:ext cx="5605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your foundations before people depend on you, like repairing a house before guests move 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A7B6CE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YOUR TURN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this week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67864" cy="39776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/>
        </p:spPr>
      </p:sp>
      <p:pic>
        <p:nvPicPr>
          <p:cNvPr id="5" name="Image 0" descr="assets/icon_star_c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350008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 the repo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releases, read the code, open an issue.</a:t>
            </a:r>
            <a:endParaRPr lang="en-US" sz="1350" dirty="0"/>
          </a:p>
        </p:txBody>
      </p:sp>
      <p:pic>
        <p:nvPicPr>
          <p:cNvPr id="8" name="Image 1" descr="assets/qr_github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632" y="3611880"/>
            <a:ext cx="1325880" cy="1325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85800" y="5056632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github.com/llm4s/llm4s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3390824" y="1600200"/>
            <a:ext cx="2567864" cy="39776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/>
        </p:spPr>
      </p:sp>
      <p:pic>
        <p:nvPicPr>
          <p:cNvPr id="11" name="Image 2" descr="assets/icon_discord_c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144" y="1874520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665144" y="2350008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Discord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665144" y="274320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anything, find a first issue, meet the maintainers.</a:t>
            </a:r>
            <a:endParaRPr lang="en-US" sz="1350" dirty="0"/>
          </a:p>
        </p:txBody>
      </p:sp>
      <p:pic>
        <p:nvPicPr>
          <p:cNvPr id="14" name="Image 3" descr="assets/qr_discor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1816" y="3611880"/>
            <a:ext cx="1325880" cy="1325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527984" y="5056632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discord.gg/4uvTPn6qww</a:t>
            </a:r>
            <a:endParaRPr lang="en-US" sz="1050" dirty="0"/>
          </a:p>
        </p:txBody>
      </p:sp>
      <p:sp>
        <p:nvSpPr>
          <p:cNvPr id="16" name="Shape 10"/>
          <p:cNvSpPr/>
          <p:nvPr/>
        </p:nvSpPr>
        <p:spPr>
          <a:xfrm>
            <a:off x="6233008" y="1600200"/>
            <a:ext cx="2567864" cy="39776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/>
        </p:spPr>
      </p:sp>
      <p:pic>
        <p:nvPicPr>
          <p:cNvPr id="17" name="Image 4" descr="assets/icon_calendar_c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1874520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6507328" y="2350008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Dev Hour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6507328" y="274320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Discord. Watch first, then drive.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6507328" y="3749040"/>
            <a:ext cx="2019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Sundays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14:30 IST</a:t>
            </a:r>
            <a:endParaRPr lang="en-US" sz="2600" dirty="0"/>
          </a:p>
        </p:txBody>
      </p:sp>
      <p:sp>
        <p:nvSpPr>
          <p:cNvPr id="21" name="Text 14"/>
          <p:cNvSpPr txBox="1"/>
          <p:nvPr/>
        </p:nvSpPr>
        <p:spPr>
          <a:xfrm>
            <a:off x="6370168" y="5056632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 London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9075191" y="1600200"/>
            <a:ext cx="2567864" cy="3977640"/>
          </a:xfrm>
          <a:prstGeom prst="roundRect">
            <a:avLst>
              <a:gd name="adj" fmla="val 2849"/>
            </a:avLst>
          </a:prstGeom>
          <a:solidFill>
            <a:srgbClr val="FFFFFF"/>
          </a:solidFill>
          <a:ln/>
        </p:spPr>
      </p:sp>
      <p:pic>
        <p:nvPicPr>
          <p:cNvPr id="23" name="Image 5" descr="assets/icon_book_c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9511" y="1874520"/>
            <a:ext cx="347472" cy="347472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349511" y="2350008"/>
            <a:ext cx="2019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 it</a:t>
            </a:r>
            <a:endParaRPr lang="en-US" sz="1800" dirty="0"/>
          </a:p>
        </p:txBody>
      </p:sp>
      <p:sp>
        <p:nvSpPr>
          <p:cNvPr id="25" name="Text 17"/>
          <p:cNvSpPr txBox="1"/>
          <p:nvPr/>
        </p:nvSpPr>
        <p:spPr>
          <a:xfrm>
            <a:off x="9349511" y="274320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beginner guide on llm4s.org.</a:t>
            </a:r>
            <a:endParaRPr lang="en-US" sz="1350" dirty="0"/>
          </a:p>
        </p:txBody>
      </p:sp>
      <p:pic>
        <p:nvPicPr>
          <p:cNvPr id="26" name="Image 6" descr="assets/qr_sit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6183" y="3611880"/>
            <a:ext cx="1325880" cy="132588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212351" y="5056632"/>
            <a:ext cx="229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llm4s.org</a:t>
            </a:r>
            <a:endParaRPr lang="en-US" sz="1050" dirty="0"/>
          </a:p>
        </p:txBody>
      </p:sp>
      <p:sp>
        <p:nvSpPr>
          <p:cNvPr id="28" name="Text 19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20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Students: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 has mentored through Google Summer of Code. The next mentorship rounds are announced on Discord.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FOR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an AI non-profit is building a startup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727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A STARTUP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572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 LLM4S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901952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90195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MVP: the smallest version that works</a:t>
            </a:r>
            <a:endParaRPr lang="en-US" sz="1450" dirty="0"/>
          </a:p>
        </p:txBody>
      </p:sp>
      <p:pic>
        <p:nvPicPr>
          <p:cNvPr id="8" name="Image 0" descr="assets/icon_arrow_c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2084832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035040" y="1901952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09360" y="1901952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commit, January 2025: one call to an AI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48640" y="2596896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22960" y="2596896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public and get feedback early</a:t>
            </a:r>
            <a:endParaRPr lang="en-US" sz="1450" dirty="0"/>
          </a:p>
        </p:txBody>
      </p:sp>
      <p:pic>
        <p:nvPicPr>
          <p:cNvPr id="13" name="Image 1" descr="assets/icon_arrow_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779776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035040" y="2596896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309360" y="2596896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work on GitHub, and live every Sunday at Dev Hour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548640" y="3291840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3291840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funding</a:t>
            </a:r>
            <a:endParaRPr lang="en-US" sz="1450" dirty="0"/>
          </a:p>
        </p:txBody>
      </p:sp>
      <p:pic>
        <p:nvPicPr>
          <p:cNvPr id="18" name="Image 2" descr="assets/icon_arrow_c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3474720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035040" y="3291840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6309360" y="3291840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funded paid student contributors through Summer of Code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548640" y="3986784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822960" y="3986784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a team</a:t>
            </a:r>
            <a:endParaRPr lang="en-US" sz="1450" dirty="0"/>
          </a:p>
        </p:txBody>
      </p:sp>
      <p:pic>
        <p:nvPicPr>
          <p:cNvPr id="23" name="Image 3" descr="assets/icon_arrow_c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4169664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6035040" y="3986784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6309360" y="3986784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mentors and 15 chapter leads in 9 countries</a:t>
            </a:r>
            <a:endParaRPr lang="en-US" sz="1450" dirty="0"/>
          </a:p>
        </p:txBody>
      </p:sp>
      <p:sp>
        <p:nvSpPr>
          <p:cNvPr id="26" name="Shape 20"/>
          <p:cNvSpPr/>
          <p:nvPr/>
        </p:nvSpPr>
        <p:spPr>
          <a:xfrm>
            <a:off x="548640" y="4681728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822960" y="4681728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it</a:t>
            </a:r>
            <a:endParaRPr lang="en-US" sz="1450" dirty="0"/>
          </a:p>
        </p:txBody>
      </p:sp>
      <p:pic>
        <p:nvPicPr>
          <p:cNvPr id="28" name="Image 4" descr="assets/icon_arrow_c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4864608"/>
            <a:ext cx="237744" cy="23774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035040" y="4681728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309360" y="4681728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talks in 7 countries, before today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548640" y="5376672"/>
            <a:ext cx="50749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822960" y="5376672"/>
            <a:ext cx="4526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Ship, listen, improve</a:t>
            </a:r>
            <a:endParaRPr lang="en-US" sz="1450" dirty="0"/>
          </a:p>
        </p:txBody>
      </p:sp>
      <p:pic>
        <p:nvPicPr>
          <p:cNvPr id="33" name="Image 5" descr="assets/icon_arrow_c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5559552"/>
            <a:ext cx="237744" cy="237744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035040" y="5376672"/>
            <a:ext cx="56080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6309360" y="5376672"/>
            <a:ext cx="510509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releases in 18 months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FOR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source first, startup later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1525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17739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2009 → 2013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048256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Spark</a:t>
            </a:r>
            <a:pPr indent="0" marL="0">
              <a:buNone/>
            </a:pPr>
            <a:r>
              <a:rPr lang="en-US" sz="1500" b="1" dirty="0">
                <a:solidFill>
                  <a:srgbClr val="A20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Databricks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487168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UC Berkeley research project, open-sourced in 2010. Its creators founded Databricks in 2013.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38218" y="1572768"/>
            <a:ext cx="351525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4250" y="17739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 → 2014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594250" y="2048256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Kafka</a:t>
            </a:r>
            <a:pPr indent="0" marL="0">
              <a:buNone/>
            </a:pPr>
            <a:r>
              <a:rPr lang="en-US" sz="1500" b="1" dirty="0">
                <a:solidFill>
                  <a:srgbClr val="A20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Confluent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94250" y="2487168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engineers at LinkedIn, who founded Confluent in 2014. It filed to go public in 2021.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27797" y="1572768"/>
            <a:ext cx="351525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83829" y="1773936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2011 → 2014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383829" y="2048256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GitLab</a:t>
            </a:r>
            <a:pPr indent="0" marL="0">
              <a:buNone/>
            </a:pPr>
            <a:r>
              <a:rPr lang="en-US" sz="1500" b="1" dirty="0">
                <a:solidFill>
                  <a:srgbClr val="A20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GitLab Inc.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83829" y="2487168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developer's project, built at home in Ukraine. A company in 2014, then Y Combinator, then NASDAQ in 2021.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648456"/>
            <a:ext cx="351525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4672" y="3849624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2009 → 2012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123944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Elasticsearch</a:t>
            </a:r>
            <a:pPr indent="0" marL="0">
              <a:buNone/>
            </a:pPr>
            <a:r>
              <a:rPr lang="en-US" sz="1500" b="1" dirty="0">
                <a:solidFill>
                  <a:srgbClr val="A20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Elastic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56285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by one developer in 2009. The company followed in 2012 and listed in New York in 2018.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38218" y="3648456"/>
            <a:ext cx="351525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4250" y="3849624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Oct 2022 → 2023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594250" y="4123944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</a:t>
            </a:r>
            <a:pPr indent="0" marL="0">
              <a:buNone/>
            </a:pPr>
            <a:r>
              <a:rPr lang="en-US" sz="1500" b="1" dirty="0">
                <a:solidFill>
                  <a:srgbClr val="A20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company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94250" y="456285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 AI library that became a funded company, LangChain Inc., within about six months.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27797" y="3648456"/>
            <a:ext cx="3515258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83829" y="3849624"/>
            <a:ext cx="30031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2004 → 2011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383829" y="4123944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</a:t>
            </a:r>
            <a:pPr indent="0" marL="0">
              <a:buNone/>
            </a:pPr>
            <a:r>
              <a:rPr lang="en-US" sz="1500" b="1" dirty="0">
                <a:solidFill>
                  <a:srgbClr val="A20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→  </a:t>
            </a:r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Typesafe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383829" y="4562856"/>
            <a:ext cx="30031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Odersky's language led him to co-found Typesafe (now Lightbend) in 2011. LLM4S is built in Scala.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760720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0B2A5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2960" y="5760720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PATTERN 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something useful in the open. Earn users and trust. Then build the business.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FOR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Traction: slow, then steady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54380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503920" y="16916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270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8503920" y="2167128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 (like bookmarks) by October 2026, from 1 in February 2025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503920" y="2880360"/>
            <a:ext cx="313639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03920" y="30632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 to Aug 2025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503920" y="3538728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steepest climb, 49 to 114: GSoC, the London Scala talk and Scala Days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503920" y="4251960"/>
            <a:ext cx="313639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503920" y="4434840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to Feb 2026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8503920" y="4910328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step, 178 to 210, around a major release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53328"/>
            <a:ext cx="110944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monthly values, read from the star-history chart in the LLM4S README on 21 Oct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FOR FOUNDERS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9441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your startup idea in open source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1525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6" name="Image 0" descr="assets/icon_users_cr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3852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810512"/>
            <a:ext cx="2417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users, early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468880"/>
            <a:ext cx="30031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around the world tell you what they actually need, before you spend a rupee.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38218" y="1572768"/>
            <a:ext cx="351525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94250" y="1810512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11" name="Image 1" descr="assets/icon_globe_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266" y="193852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52618" y="1810512"/>
            <a:ext cx="2417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global network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94250" y="2468880"/>
            <a:ext cx="30031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mentors and 15 chapters: future co-founders, advisors and first customers.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27797" y="1572768"/>
            <a:ext cx="351525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383829" y="1810512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16" name="Image 2" descr="assets/icon_grad_cri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845" y="193852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42197" y="1810512"/>
            <a:ext cx="2417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that compound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83829" y="2468880"/>
            <a:ext cx="30031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teamwork, shipping, writing and speaking, while you are still a student.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51525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04672" y="3758184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21" name="Image 3" descr="assets/icon_bolt_cri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88620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3758184"/>
            <a:ext cx="2417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pathways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04672" y="4416552"/>
            <a:ext cx="30031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Programmes like Google Summer of Code pay contributors; a public track record helps with grants and investors.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4338218" y="3520440"/>
            <a:ext cx="351525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4250" y="3758184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26" name="Image 4" descr="assets/icon_award_crim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266" y="388620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252618" y="3758184"/>
            <a:ext cx="2417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Credibility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94250" y="4416552"/>
            <a:ext cx="30031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record of what you built, who reviewed it and who uses it.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127797" y="3520440"/>
            <a:ext cx="3515258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</p:spPr>
      </p:sp>
      <p:sp>
        <p:nvSpPr>
          <p:cNvPr id="30" name="Shape 23"/>
          <p:cNvSpPr/>
          <p:nvPr/>
        </p:nvSpPr>
        <p:spPr>
          <a:xfrm>
            <a:off x="8383829" y="3758184"/>
            <a:ext cx="512064" cy="512064"/>
          </a:xfrm>
          <a:prstGeom prst="ellipse">
            <a:avLst/>
          </a:prstGeom>
          <a:solidFill>
            <a:srgbClr val="F9E4E7"/>
          </a:solidFill>
          <a:ln/>
        </p:spPr>
      </p:sp>
      <p:pic>
        <p:nvPicPr>
          <p:cNvPr id="31" name="Image 5" descr="assets/icon_door_cri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1845" y="3886200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42197" y="3758184"/>
            <a:ext cx="241797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risk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83829" y="4416552"/>
            <a:ext cx="300319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no office, no fees. Test the waters before you quit anything.</a:t>
            </a:r>
            <a:endParaRPr lang="en-US" sz="1350" dirty="0"/>
          </a:p>
        </p:txBody>
      </p:sp>
      <p:sp>
        <p:nvSpPr>
          <p:cNvPr id="34" name="Shape 26"/>
          <p:cNvSpPr/>
          <p:nvPr/>
        </p:nvSpPr>
        <p:spPr>
          <a:xfrm>
            <a:off x="548640" y="5577840"/>
            <a:ext cx="11094415" cy="603504"/>
          </a:xfrm>
          <a:prstGeom prst="roundRect">
            <a:avLst>
              <a:gd name="adj" fmla="val 12121"/>
            </a:avLst>
          </a:prstGeom>
          <a:solidFill>
            <a:srgbClr val="0B2A55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822960" y="5577840"/>
            <a:ext cx="1054577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TODAY'S PITCHES   </a:t>
            </a:r>
            <a:pPr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smallest version that works, proof that real people want it, and the team behind 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69880" y="6419088"/>
            <a:ext cx="73152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4E5B73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oster_vip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5374" y="0"/>
            <a:ext cx="4856321" cy="6858000"/>
          </a:xfrm>
          <a:prstGeom prst="rect">
            <a:avLst/>
          </a:prstGeom>
        </p:spPr>
      </p:pic>
      <p:pic>
        <p:nvPicPr>
          <p:cNvPr id="3" name="Image 1" descr="assets/logo-on-dark-t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005840" cy="9509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691640"/>
            <a:ext cx="646669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you, VIPS-TC!</a:t>
            </a:r>
            <a:endParaRPr lang="en-US" sz="46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606040"/>
            <a:ext cx="646669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546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3154680"/>
            <a:ext cx="64666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luck to every team at Pitch Please.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73736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kannupriya@llm4s.org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297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1737360" y="4297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linkedin.com/in/kannupriyakalra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7548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E546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1737360" y="4754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llm4s.org</a:t>
            </a:r>
            <a:endParaRPr lang="en-US" sz="1400" dirty="0"/>
          </a:p>
        </p:txBody>
      </p:sp>
      <p:pic>
        <p:nvPicPr>
          <p:cNvPr id="13" name="Image 2" descr="assets/qr_linked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794760"/>
            <a:ext cx="1051560" cy="10515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26280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LINKEDIN</a:t>
            </a:r>
            <a:endParaRPr lang="en-US" sz="950" dirty="0"/>
          </a:p>
        </p:txBody>
      </p:sp>
      <p:pic>
        <p:nvPicPr>
          <p:cNvPr id="15" name="Image 3" descr="assets/qr_github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3794760"/>
            <a:ext cx="1051560" cy="10515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760720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4S Retrospective">
  <a:themeElements>
    <a:clrScheme name="LLM4S Retrospective">
      <a:dk1>
        <a:srgbClr val="041B43"/>
      </a:dk1>
      <a:lt1>
        <a:srgbClr val="FFFFFF"/>
      </a:lt1>
      <a:dk2>
        <a:srgbClr val="4E5B73"/>
      </a:dk2>
      <a:lt2>
        <a:srgbClr val="F3F7FC"/>
      </a:lt2>
      <a:accent1>
        <a:srgbClr val="A2041C"/>
      </a:accent1>
      <a:accent2>
        <a:srgbClr val="0B2A55"/>
      </a:accent2>
      <a:accent3>
        <a:srgbClr val="D3DCE8"/>
      </a:accent3>
      <a:accent4>
        <a:srgbClr val="A7B6CE"/>
      </a:accent4>
      <a:accent5>
        <a:srgbClr val="1F3D6B"/>
      </a:accent5>
      <a:accent6>
        <a:srgbClr val="F9E4E7"/>
      </a:accent6>
      <a:hlink>
        <a:srgbClr val="A2041C"/>
      </a:hlink>
      <a:folHlink>
        <a:srgbClr val="4E5B73"/>
      </a:folHlink>
    </a:clrScheme>
    <a:fontScheme name="LLM4S Retrospectiv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LLM4S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LLM4S Foundation: A Retrospective</dc:title>
  <dc:subject>PptxGenJS Presentation</dc:subject>
  <dc:creator>Kannupriya Kalra</dc:creator>
  <cp:lastModifiedBy>Kannupriya Kalra</cp:lastModifiedBy>
  <cp:revision>1</cp:revision>
  <dcterms:created xsi:type="dcterms:W3CDTF">2026-10-22T15:42:58Z</dcterms:created>
  <dcterms:modified xsi:type="dcterms:W3CDTF">2026-10-22T15:42:58Z</dcterms:modified>
</cp:coreProperties>
</file>